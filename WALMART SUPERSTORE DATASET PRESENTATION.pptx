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5"/>
  </p:notes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A5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A585A-BBBF-4633-84DE-4719EF3C99C9}" type="datetimeFigureOut">
              <a:rPr lang="LID4096" smtClean="0"/>
              <a:t>02/09/2026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E1F7A-9D87-4F13-AEC8-EA54EA63E1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286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1F7A-9D87-4F13-AEC8-EA54EA63E10C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25536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6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8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8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5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9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3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0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21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3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4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7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FD14E-F732-6F60-3FEC-B09E45FEF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Pastel colors in gradient surface design">
            <a:extLst>
              <a:ext uri="{FF2B5EF4-FFF2-40B4-BE49-F238E27FC236}">
                <a16:creationId xmlns:a16="http://schemas.microsoft.com/office/drawing/2014/main" id="{E2D3C50F-CA66-CEBF-EB07-C4AFB886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06" r="-1" b="9102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CF0998E-D577-43EA-A7B8-E3EC67F75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DC364D-882B-4786-89FB-1703C1A5C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3E0068-7D71-3BE8-C3AD-637268FC1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34496" cy="2766466"/>
          </a:xfrm>
        </p:spPr>
        <p:txBody>
          <a:bodyPr anchor="ctr"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WALMART SUPERSTORE DATASET PRESENTATION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02A74-262D-9922-9BA4-6E4A598E3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108182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02.02.2026</a:t>
            </a:r>
            <a:endParaRPr lang="LID4096" sz="4000" b="1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49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78BFF-441A-3CF0-3E93-FDB3329B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392776E-9A8B-73F2-01EE-B22AFEF91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Pastel colors in gradient surface design">
            <a:extLst>
              <a:ext uri="{FF2B5EF4-FFF2-40B4-BE49-F238E27FC236}">
                <a16:creationId xmlns:a16="http://schemas.microsoft.com/office/drawing/2014/main" id="{2392CA0A-803D-680F-2984-0E8695747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06" r="-1" b="9102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8A9FEEF-51D5-A6D1-946D-246FB178A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873CDE-008C-E2C0-390A-27BA49FCB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A7E8AB-E9A0-9CAD-2368-DE302E79A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6A352-1BD3-1A1F-CC38-F134BD0DB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822" y="708105"/>
            <a:ext cx="1652306" cy="457344"/>
          </a:xfrm>
        </p:spPr>
        <p:txBody>
          <a:bodyPr anchor="t">
            <a:normAutofit fontScale="90000"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INSIGHTS</a:t>
            </a:r>
            <a:endParaRPr lang="LID4096" sz="2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ECDDB-7602-5787-473B-3F0CFCA8F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822" y="1124711"/>
            <a:ext cx="11162356" cy="5025184"/>
          </a:xfrm>
        </p:spPr>
        <p:txBody>
          <a:bodyPr anchor="t">
            <a:no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From the dashboard we can draw the following insights:</a:t>
            </a:r>
          </a:p>
          <a:p>
            <a:pPr marL="457200" indent="-457200">
              <a:buAutoNum type="arabicPeriod"/>
            </a:pPr>
            <a:r>
              <a:rPr lang="en-US" sz="1500" b="1" dirty="0">
                <a:solidFill>
                  <a:srgbClr val="FFFFFF"/>
                </a:solidFill>
              </a:rPr>
              <a:t>Total Sales by Year:</a:t>
            </a:r>
            <a:r>
              <a:rPr lang="en-US" sz="1500" dirty="0">
                <a:solidFill>
                  <a:srgbClr val="FFFFFF"/>
                </a:solidFill>
              </a:rPr>
              <a:t> From the year </a:t>
            </a:r>
            <a:r>
              <a:rPr lang="en-US" sz="1500" b="1" dirty="0">
                <a:solidFill>
                  <a:schemeClr val="accent1"/>
                </a:solidFill>
              </a:rPr>
              <a:t>2011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chemeClr val="accent1"/>
                </a:solidFill>
              </a:rPr>
              <a:t>–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chemeClr val="accent1"/>
                </a:solidFill>
              </a:rPr>
              <a:t>2014</a:t>
            </a:r>
            <a:r>
              <a:rPr lang="en-US" sz="1500" dirty="0">
                <a:solidFill>
                  <a:srgbClr val="FFFFFF"/>
                </a:solidFill>
              </a:rPr>
              <a:t> there was a steady increase in sales with the highest sales in the year </a:t>
            </a:r>
            <a:r>
              <a:rPr lang="en-US" sz="1500" b="1" dirty="0">
                <a:solidFill>
                  <a:schemeClr val="accent1"/>
                </a:solidFill>
              </a:rPr>
              <a:t>2014.</a:t>
            </a:r>
            <a:endParaRPr lang="en-US" sz="1500" dirty="0">
              <a:solidFill>
                <a:srgbClr val="FFFFFF"/>
              </a:solidFill>
            </a:endParaRPr>
          </a:p>
          <a:p>
            <a:pPr marL="457200" indent="-457200">
              <a:buAutoNum type="arabicPeriod"/>
            </a:pPr>
            <a:r>
              <a:rPr lang="en-US" sz="1500" b="1" dirty="0">
                <a:solidFill>
                  <a:srgbClr val="FFFFFF"/>
                </a:solidFill>
              </a:rPr>
              <a:t>Total Sales by Year and Category: </a:t>
            </a:r>
            <a:r>
              <a:rPr lang="en-US" sz="1500" dirty="0">
                <a:solidFill>
                  <a:srgbClr val="FFFFFF"/>
                </a:solidFill>
              </a:rPr>
              <a:t>Year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chemeClr val="accent1"/>
                </a:solidFill>
              </a:rPr>
              <a:t>2014 </a:t>
            </a:r>
            <a:r>
              <a:rPr lang="en-US" sz="1500" dirty="0"/>
              <a:t>has the highest sales with the category </a:t>
            </a:r>
            <a:r>
              <a:rPr lang="en-US" sz="1500" b="1" dirty="0">
                <a:solidFill>
                  <a:schemeClr val="accent1"/>
                </a:solidFill>
              </a:rPr>
              <a:t>Furniture</a:t>
            </a:r>
            <a:r>
              <a:rPr lang="en-US" sz="1500" dirty="0"/>
              <a:t> consequently topping each year from </a:t>
            </a:r>
            <a:r>
              <a:rPr lang="en-US" sz="1500" b="1" dirty="0">
                <a:solidFill>
                  <a:schemeClr val="accent1"/>
                </a:solidFill>
              </a:rPr>
              <a:t>2011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chemeClr val="accent1"/>
                </a:solidFill>
              </a:rPr>
              <a:t>–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chemeClr val="accent1"/>
                </a:solidFill>
              </a:rPr>
              <a:t>2014.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1500" b="1" dirty="0">
                <a:solidFill>
                  <a:srgbClr val="FFFFFF"/>
                </a:solidFill>
              </a:rPr>
              <a:t>Total Sales by Market: </a:t>
            </a:r>
            <a:r>
              <a:rPr lang="en-US" sz="1500" dirty="0">
                <a:solidFill>
                  <a:srgbClr val="FFFFFF"/>
                </a:solidFill>
              </a:rPr>
              <a:t>The Walmart superstore generated the highest number of sales from the </a:t>
            </a:r>
            <a:r>
              <a:rPr lang="en-US" sz="1500" b="1" dirty="0">
                <a:solidFill>
                  <a:schemeClr val="accent1"/>
                </a:solidFill>
              </a:rPr>
              <a:t>APAC</a:t>
            </a:r>
            <a:r>
              <a:rPr lang="en-US" sz="1500" dirty="0">
                <a:solidFill>
                  <a:srgbClr val="FFFFFF"/>
                </a:solidFill>
              </a:rPr>
              <a:t> market followed by </a:t>
            </a:r>
            <a:r>
              <a:rPr lang="en-US" sz="1500" b="1" dirty="0">
                <a:solidFill>
                  <a:schemeClr val="accent1"/>
                </a:solidFill>
              </a:rPr>
              <a:t>EU</a:t>
            </a:r>
            <a:r>
              <a:rPr lang="en-US" sz="1500" dirty="0">
                <a:solidFill>
                  <a:srgbClr val="FFFFFF"/>
                </a:solidFill>
              </a:rPr>
              <a:t> then the </a:t>
            </a:r>
            <a:r>
              <a:rPr lang="en-US" sz="1500" b="1" dirty="0">
                <a:solidFill>
                  <a:schemeClr val="accent1"/>
                </a:solidFill>
              </a:rPr>
              <a:t>US.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1500" b="1" dirty="0"/>
              <a:t>Average % Sales by Segment: </a:t>
            </a:r>
            <a:r>
              <a:rPr lang="en-US" sz="1500" dirty="0"/>
              <a:t>The highest percentage of average sales was from the </a:t>
            </a:r>
            <a:r>
              <a:rPr lang="en-US" sz="1500" b="1" dirty="0">
                <a:solidFill>
                  <a:srgbClr val="EBA52A"/>
                </a:solidFill>
              </a:rPr>
              <a:t>Corporate</a:t>
            </a:r>
            <a:r>
              <a:rPr lang="en-US" sz="1500" dirty="0"/>
              <a:t> segment with </a:t>
            </a:r>
            <a:r>
              <a:rPr lang="en-US" sz="1500" b="1" dirty="0">
                <a:solidFill>
                  <a:srgbClr val="EBA52A"/>
                </a:solidFill>
              </a:rPr>
              <a:t>101.18%</a:t>
            </a:r>
            <a:r>
              <a:rPr lang="en-US" sz="1500" dirty="0"/>
              <a:t> followed by  </a:t>
            </a:r>
            <a:r>
              <a:rPr lang="en-US" sz="1500" b="1" dirty="0">
                <a:solidFill>
                  <a:srgbClr val="EBA52A"/>
                </a:solidFill>
              </a:rPr>
              <a:t>Consumer</a:t>
            </a:r>
            <a:r>
              <a:rPr lang="en-US" sz="1500" dirty="0"/>
              <a:t> segment with </a:t>
            </a:r>
            <a:r>
              <a:rPr lang="en-US" sz="1500" b="1" dirty="0">
                <a:solidFill>
                  <a:srgbClr val="EBA52A"/>
                </a:solidFill>
              </a:rPr>
              <a:t>99.68% </a:t>
            </a:r>
            <a:r>
              <a:rPr lang="en-US" sz="1500" dirty="0"/>
              <a:t>and </a:t>
            </a:r>
            <a:r>
              <a:rPr lang="en-US" sz="1500" b="1" dirty="0">
                <a:solidFill>
                  <a:srgbClr val="EBA52A"/>
                </a:solidFill>
              </a:rPr>
              <a:t>Home Office </a:t>
            </a:r>
            <a:r>
              <a:rPr lang="en-US" sz="1500" dirty="0"/>
              <a:t>segment with </a:t>
            </a:r>
            <a:r>
              <a:rPr lang="en-US" sz="1500" b="1" dirty="0">
                <a:solidFill>
                  <a:srgbClr val="EBA52A"/>
                </a:solidFill>
              </a:rPr>
              <a:t>98.88%.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1500" b="1" dirty="0"/>
              <a:t>Total % Quantity by Ship Mode: </a:t>
            </a:r>
            <a:r>
              <a:rPr lang="en-US" sz="1500" b="1" dirty="0">
                <a:solidFill>
                  <a:srgbClr val="EBA52A"/>
                </a:solidFill>
              </a:rPr>
              <a:t>Standard </a:t>
            </a:r>
            <a:r>
              <a:rPr lang="en-US" sz="1500" dirty="0"/>
              <a:t>ship mode has the highest percentage quantity with </a:t>
            </a:r>
            <a:r>
              <a:rPr lang="en-US" sz="1500" b="1" dirty="0">
                <a:solidFill>
                  <a:srgbClr val="EBA52A"/>
                </a:solidFill>
              </a:rPr>
              <a:t>60.48%</a:t>
            </a:r>
            <a:r>
              <a:rPr lang="en-US" sz="1500" b="1" dirty="0"/>
              <a:t> </a:t>
            </a:r>
            <a:r>
              <a:rPr lang="en-US" sz="1500" dirty="0"/>
              <a:t>followed by </a:t>
            </a:r>
            <a:r>
              <a:rPr lang="en-US" sz="1500" b="1" dirty="0">
                <a:solidFill>
                  <a:srgbClr val="EBA52A"/>
                </a:solidFill>
              </a:rPr>
              <a:t>Second Class </a:t>
            </a:r>
            <a:r>
              <a:rPr lang="en-US" sz="1500" dirty="0"/>
              <a:t>with </a:t>
            </a:r>
            <a:r>
              <a:rPr lang="en-US" sz="1500" b="1" dirty="0">
                <a:solidFill>
                  <a:srgbClr val="EBA52A"/>
                </a:solidFill>
              </a:rPr>
              <a:t>19.63%</a:t>
            </a:r>
            <a:r>
              <a:rPr lang="en-US" sz="1500" dirty="0"/>
              <a:t> followed by  </a:t>
            </a:r>
            <a:r>
              <a:rPr lang="en-US" sz="1500" b="1" dirty="0">
                <a:solidFill>
                  <a:srgbClr val="EBA52A"/>
                </a:solidFill>
              </a:rPr>
              <a:t>First Class</a:t>
            </a:r>
            <a:r>
              <a:rPr lang="en-US" sz="1500" dirty="0"/>
              <a:t> with </a:t>
            </a:r>
            <a:r>
              <a:rPr lang="en-US" sz="1500" b="1" dirty="0">
                <a:solidFill>
                  <a:srgbClr val="EBA52A"/>
                </a:solidFill>
              </a:rPr>
              <a:t>14.81% </a:t>
            </a:r>
            <a:r>
              <a:rPr lang="en-US" sz="1500" dirty="0"/>
              <a:t>and then </a:t>
            </a:r>
            <a:r>
              <a:rPr lang="en-US" sz="1500" b="1" dirty="0">
                <a:solidFill>
                  <a:srgbClr val="EBA52A"/>
                </a:solidFill>
              </a:rPr>
              <a:t>Same Day</a:t>
            </a:r>
            <a:r>
              <a:rPr lang="en-US" sz="1500" dirty="0"/>
              <a:t> with </a:t>
            </a:r>
            <a:r>
              <a:rPr lang="en-US" sz="1500" b="1" dirty="0">
                <a:solidFill>
                  <a:srgbClr val="EBA52A"/>
                </a:solidFill>
              </a:rPr>
              <a:t>5.07%.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1500" b="1" dirty="0"/>
              <a:t>Top 10 Quantity by Subcategory: </a:t>
            </a:r>
            <a:r>
              <a:rPr lang="en-US" sz="1500" dirty="0"/>
              <a:t>The three most performing quantity of products subcategory are </a:t>
            </a:r>
            <a:r>
              <a:rPr lang="en-US" sz="1500" b="1" dirty="0">
                <a:solidFill>
                  <a:srgbClr val="EBA52A"/>
                </a:solidFill>
              </a:rPr>
              <a:t>Blinders, Storage</a:t>
            </a:r>
            <a:r>
              <a:rPr lang="en-US" sz="1500" dirty="0"/>
              <a:t> and </a:t>
            </a:r>
            <a:r>
              <a:rPr lang="en-US" sz="1500" b="1" dirty="0">
                <a:solidFill>
                  <a:srgbClr val="EBA52A"/>
                </a:solidFill>
              </a:rPr>
              <a:t>Art</a:t>
            </a:r>
            <a:r>
              <a:rPr lang="en-US" sz="1500" dirty="0"/>
              <a:t> with </a:t>
            </a:r>
            <a:r>
              <a:rPr lang="en-US" sz="1500" b="1" dirty="0">
                <a:solidFill>
                  <a:srgbClr val="EBA52A"/>
                </a:solidFill>
              </a:rPr>
              <a:t>21429,</a:t>
            </a:r>
            <a:r>
              <a:rPr lang="en-US" sz="1500" dirty="0"/>
              <a:t> </a:t>
            </a:r>
            <a:r>
              <a:rPr lang="en-US" sz="1500" b="1" dirty="0">
                <a:solidFill>
                  <a:srgbClr val="EBA52A"/>
                </a:solidFill>
              </a:rPr>
              <a:t>16917</a:t>
            </a:r>
            <a:r>
              <a:rPr lang="en-US" sz="1500" dirty="0"/>
              <a:t> and </a:t>
            </a:r>
            <a:r>
              <a:rPr lang="en-US" sz="1500" b="1" dirty="0">
                <a:solidFill>
                  <a:srgbClr val="EBA52A"/>
                </a:solidFill>
              </a:rPr>
              <a:t>16301</a:t>
            </a:r>
            <a:r>
              <a:rPr lang="en-US" sz="1500" dirty="0"/>
              <a:t> respectively.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1500" b="1" dirty="0"/>
              <a:t>Top 10 Sales by Subcategory: </a:t>
            </a:r>
            <a:r>
              <a:rPr lang="en-US" sz="1500" dirty="0"/>
              <a:t>The three most performing sales of products subcategory are </a:t>
            </a:r>
            <a:r>
              <a:rPr lang="en-US" sz="1500" b="1" dirty="0">
                <a:solidFill>
                  <a:srgbClr val="EBA52A"/>
                </a:solidFill>
              </a:rPr>
              <a:t>Chairs, Storage</a:t>
            </a:r>
            <a:r>
              <a:rPr lang="en-US" sz="1500" dirty="0"/>
              <a:t> and </a:t>
            </a:r>
            <a:r>
              <a:rPr lang="en-US" sz="1500" b="1" dirty="0">
                <a:solidFill>
                  <a:srgbClr val="EBA52A"/>
                </a:solidFill>
              </a:rPr>
              <a:t>Phones.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1500" b="1" dirty="0"/>
              <a:t>Top 10 Sales by Country: </a:t>
            </a:r>
            <a:r>
              <a:rPr lang="en-US" sz="1500" dirty="0">
                <a:solidFill>
                  <a:srgbClr val="FFFFFF"/>
                </a:solidFill>
              </a:rPr>
              <a:t>The most performing country by total sales is the </a:t>
            </a:r>
            <a:r>
              <a:rPr lang="en-US" sz="1500" b="1" dirty="0">
                <a:solidFill>
                  <a:schemeClr val="accent1"/>
                </a:solidFill>
              </a:rPr>
              <a:t>United States </a:t>
            </a:r>
            <a:r>
              <a:rPr lang="en-US" sz="1500" dirty="0">
                <a:solidFill>
                  <a:srgbClr val="FFFFFF"/>
                </a:solidFill>
              </a:rPr>
              <a:t>and the least performing is </a:t>
            </a:r>
            <a:r>
              <a:rPr lang="en-US" sz="1500" b="1" dirty="0">
                <a:solidFill>
                  <a:schemeClr val="accent1"/>
                </a:solidFill>
              </a:rPr>
              <a:t>Brazil.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1500" b="1" dirty="0"/>
              <a:t>Top 10 Profits by Country: </a:t>
            </a:r>
            <a:r>
              <a:rPr lang="en-US" sz="1500" dirty="0">
                <a:solidFill>
                  <a:srgbClr val="FFFFFF"/>
                </a:solidFill>
              </a:rPr>
              <a:t>The most performing country by total sales is the </a:t>
            </a:r>
            <a:r>
              <a:rPr lang="en-US" sz="1500" b="1" dirty="0">
                <a:solidFill>
                  <a:schemeClr val="accent1"/>
                </a:solidFill>
              </a:rPr>
              <a:t>United States </a:t>
            </a:r>
            <a:r>
              <a:rPr lang="en-US" sz="1500" dirty="0">
                <a:solidFill>
                  <a:srgbClr val="FFFFFF"/>
                </a:solidFill>
              </a:rPr>
              <a:t>and the least performing is </a:t>
            </a:r>
            <a:r>
              <a:rPr lang="en-US" sz="1500" b="1" dirty="0">
                <a:solidFill>
                  <a:schemeClr val="accent1"/>
                </a:solidFill>
              </a:rPr>
              <a:t>Spain.</a:t>
            </a:r>
            <a:endParaRPr lang="en-US" sz="1500" dirty="0">
              <a:solidFill>
                <a:srgbClr val="FFFFFF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1500" dirty="0">
              <a:solidFill>
                <a:srgbClr val="FFFFFF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CF59C7-2516-BB46-8830-818E09703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27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1FFA1-65FE-D74E-AC3A-EF41B74B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86430B2-35B1-663B-9CD6-D4D6BF258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Pastel colors in gradient surface design">
            <a:extLst>
              <a:ext uri="{FF2B5EF4-FFF2-40B4-BE49-F238E27FC236}">
                <a16:creationId xmlns:a16="http://schemas.microsoft.com/office/drawing/2014/main" id="{0FD11B80-CBA5-0886-E42C-004AB12F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06" r="-1" b="9102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5125737-A592-2976-40F1-11D60A1C0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9A748B-25C0-EC9C-F68D-CBBE8D538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B3DF1F-D721-88B8-EC3F-4C13373D6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E5163D-5332-3242-52E2-003FD9DD8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749808"/>
            <a:ext cx="3304322" cy="521208"/>
          </a:xfrm>
        </p:spPr>
        <p:txBody>
          <a:bodyPr anchor="t">
            <a:normAutofit/>
          </a:bodyPr>
          <a:lstStyle/>
          <a:p>
            <a:r>
              <a:rPr lang="en-US" sz="2500" dirty="0">
                <a:solidFill>
                  <a:srgbClr val="FFFFFF"/>
                </a:solidFill>
              </a:rPr>
              <a:t>RECOMMENDATIONS</a:t>
            </a:r>
            <a:endParaRPr lang="LID4096" sz="25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F6196-5AFE-5FBB-BDEA-E7B61DF07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1165449"/>
            <a:ext cx="11175281" cy="4961031"/>
          </a:xfrm>
        </p:spPr>
        <p:txBody>
          <a:bodyPr anchor="t">
            <a:normAutofit fontScale="92500" lnSpcReduction="1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Based on the insights gotten, the following recommendations have been provided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rgbClr val="FFFFFF"/>
                </a:solidFill>
              </a:rPr>
              <a:t>Total Sales by Year and Category: </a:t>
            </a:r>
            <a:r>
              <a:rPr lang="en-US" dirty="0">
                <a:solidFill>
                  <a:srgbClr val="FFFFFF"/>
                </a:solidFill>
              </a:rPr>
              <a:t>The </a:t>
            </a:r>
            <a:r>
              <a:rPr lang="en-US" b="1" dirty="0">
                <a:solidFill>
                  <a:schemeClr val="accent1"/>
                </a:solidFill>
              </a:rPr>
              <a:t>furniture</a:t>
            </a:r>
            <a:r>
              <a:rPr lang="en-US" dirty="0">
                <a:solidFill>
                  <a:srgbClr val="FFFFFF"/>
                </a:solidFill>
              </a:rPr>
              <a:t> category has the highest sales across all years, more of this category should be made available in the markets for  increase in sales.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rgbClr val="FFFFFF"/>
                </a:solidFill>
              </a:rPr>
              <a:t>Total Sales by Market: </a:t>
            </a:r>
            <a:r>
              <a:rPr lang="en-US" dirty="0">
                <a:solidFill>
                  <a:srgbClr val="FFFFFF"/>
                </a:solidFill>
              </a:rPr>
              <a:t>More products should be distributed across the </a:t>
            </a:r>
            <a:r>
              <a:rPr lang="en-US" b="1" dirty="0">
                <a:solidFill>
                  <a:srgbClr val="EBA52A"/>
                </a:solidFill>
              </a:rPr>
              <a:t>APAC, EU </a:t>
            </a:r>
            <a:r>
              <a:rPr lang="en-US" dirty="0"/>
              <a:t>and</a:t>
            </a:r>
            <a:r>
              <a:rPr lang="en-US" b="1" dirty="0">
                <a:solidFill>
                  <a:srgbClr val="EBA52A"/>
                </a:solidFill>
              </a:rPr>
              <a:t> US </a:t>
            </a:r>
            <a:r>
              <a:rPr lang="en-US" dirty="0"/>
              <a:t>markets.</a:t>
            </a:r>
            <a:endParaRPr lang="en-US" b="1" dirty="0">
              <a:solidFill>
                <a:srgbClr val="EBA52A"/>
              </a:solidFill>
            </a:endParaRPr>
          </a:p>
          <a:p>
            <a:pPr marL="457200" indent="-457200">
              <a:buAutoNum type="arabicPeriod"/>
            </a:pPr>
            <a:r>
              <a:rPr lang="en-US" b="1" dirty="0">
                <a:solidFill>
                  <a:srgbClr val="FFFFFF"/>
                </a:solidFill>
              </a:rPr>
              <a:t>Average % Sales by Segment: </a:t>
            </a:r>
            <a:r>
              <a:rPr lang="en-US" dirty="0">
                <a:solidFill>
                  <a:srgbClr val="FFFFFF"/>
                </a:solidFill>
              </a:rPr>
              <a:t>Products needed by specific segments should always be made available as demands increases.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rgbClr val="FFFFFF"/>
                </a:solidFill>
              </a:rPr>
              <a:t>Total % Quantity by Ship Mode: </a:t>
            </a:r>
            <a:r>
              <a:rPr lang="en-US" dirty="0">
                <a:solidFill>
                  <a:srgbClr val="FFFFFF"/>
                </a:solidFill>
              </a:rPr>
              <a:t>More products should be transported through t</a:t>
            </a:r>
            <a:r>
              <a:rPr lang="en-US" dirty="0"/>
              <a:t>he</a:t>
            </a:r>
            <a:r>
              <a:rPr lang="en-US" b="1" dirty="0">
                <a:solidFill>
                  <a:schemeClr val="accent1"/>
                </a:solidFill>
              </a:rPr>
              <a:t> Standard </a:t>
            </a:r>
            <a:r>
              <a:rPr lang="en-US" dirty="0"/>
              <a:t>ship mode due to the amount of discount available.</a:t>
            </a: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buAutoNum type="arabicPeriod"/>
            </a:pPr>
            <a:r>
              <a:rPr lang="en-US" b="1" dirty="0">
                <a:solidFill>
                  <a:srgbClr val="FFFFFF"/>
                </a:solidFill>
              </a:rPr>
              <a:t>Top 10 Sales and Quantity by Subcategory: </a:t>
            </a:r>
            <a:r>
              <a:rPr lang="en-US" dirty="0">
                <a:solidFill>
                  <a:srgbClr val="FFFFFF"/>
                </a:solidFill>
              </a:rPr>
              <a:t>The three most performing products by quantity and sales should always be made available in supply.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Top 10 Sales and Profit by Region: </a:t>
            </a:r>
            <a:r>
              <a:rPr lang="en-US" dirty="0">
                <a:solidFill>
                  <a:srgbClr val="FFFFFF"/>
                </a:solidFill>
              </a:rPr>
              <a:t>The three most performing products by sales and profits should always be made available in supply and distributed to preference in the </a:t>
            </a:r>
            <a:r>
              <a:rPr lang="en-US" b="1">
                <a:solidFill>
                  <a:srgbClr val="EBA52A"/>
                </a:solidFill>
              </a:rPr>
              <a:t>United States.</a:t>
            </a:r>
            <a:endParaRPr lang="en-US" b="1" dirty="0">
              <a:solidFill>
                <a:srgbClr val="EBA52A"/>
              </a:solidFill>
            </a:endParaRPr>
          </a:p>
          <a:p>
            <a:pPr marL="457200" indent="-457200">
              <a:buAutoNum type="arabicPeriod"/>
            </a:pPr>
            <a:endParaRPr lang="LID4096" dirty="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ACF937-F885-AEA4-DDAB-DCDE02757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89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5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435</Words>
  <Application>Microsoft Office PowerPoint</Application>
  <PresentationFormat>Widescreen</PresentationFormat>
  <Paragraphs>22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Bierstadt</vt:lpstr>
      <vt:lpstr>GestaltVTI</vt:lpstr>
      <vt:lpstr>WALMART SUPERSTORE DATASET PRESENTATION</vt:lpstr>
      <vt:lpstr>INSIGHTS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Edwin</dc:creator>
  <cp:lastModifiedBy>Jonathan Edwin</cp:lastModifiedBy>
  <cp:revision>1</cp:revision>
  <dcterms:created xsi:type="dcterms:W3CDTF">2026-02-09T13:51:14Z</dcterms:created>
  <dcterms:modified xsi:type="dcterms:W3CDTF">2026-02-09T16:16:11Z</dcterms:modified>
</cp:coreProperties>
</file>